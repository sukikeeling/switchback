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C49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0763C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E7A8"/>
                </a:solidFill>
                <a:latin typeface="Microsoft YaHei"/>
              </a:rPr>
              <a:t>GOAI WORLD AI OPEN SOURCE COMPETITION 2026 · HANGZHOU · TRACK 1 · AGENT 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</a:rPr>
              <a:t>折返治理 · Switchback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C6D2"/>
                </a:solidFill>
                <a:latin typeface="Microsoft YaHei"/>
              </a:rPr>
              <a:t>Switchback Governance — the Human-in-the-Loop Governance Layer for Multi-Agent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763C"/>
                </a:solidFill>
                <a:latin typeface="Microsoft YaHei"/>
              </a:rPr>
              <a:t>让每一次 Agent 决策，都沿轨道可查、可停、可回头。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赛道① 新智基座 Agent Infra ｜ 参赛 sukikeeling ｜ 仓库 github.com/sukikeeling/switchback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9C6D2"/>
                </a:solidFill>
                <a:latin typeface="Microsoft YaHei"/>
              </a:rPr>
              <a:t>旗舰证据：百年京张 AI 创新带开源征集 84/100 最高纪录（open-city-ai/haidian）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763C"/>
                </a:solidFill>
                <a:latin typeface="Microsoft YaHei"/>
              </a:rPr>
              <a:t>一  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问题与场景：Agent 从 Demo 到 Production 的四道坎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28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icrosoft YaHei"/>
              </a:rPr>
              <a:t>Switchback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结果不可信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数值三处对不齐、引用错位、模型幻觉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371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7D5A"/>
                </a:solidFill>
                <a:latin typeface="Microsoft YaHei"/>
              </a:rPr>
              <a:t>证据核验 Skill：三处对齐 + 双向引用 + 内容哈希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过程不可停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编排一旦开始就自动往下走，错误放大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7D5A"/>
                </a:solidFill>
                <a:latin typeface="Microsoft YaHei"/>
              </a:rPr>
              <a:t>折返点：到站必停，复核后才继续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出事不可回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661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没有审批/回滚/隔离语义，只能硬杀进程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7D5A"/>
                </a:solidFill>
                <a:latin typeface="Microsoft YaHei"/>
              </a:rPr>
              <a:t>道岔三态：正线/侧线/入段，不设自动恢复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账目不可审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63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谁做了什么、基于哪个数据版本，无账本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7D5A"/>
                </a:solidFill>
                <a:latin typeface="Microsoft YaHei"/>
              </a:rPr>
              <a:t>K 标账本：内容寻址哈希链，逐条可复核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solidFill>
            <a:srgbClr val="EEF5F0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7D5A"/>
                </a:solidFill>
                <a:latin typeface="Microsoft YaHei"/>
              </a:rPr>
              <a:t>真实场景：京张开源征集 16 个 PR 亲历全部事故 → 84/100 最高纪录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763C"/>
                </a:solidFill>
                <a:latin typeface="Microsoft YaHei"/>
              </a:rPr>
              <a:t>二  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核心洞察：铁路的『人字坡』智慧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28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icrosoft YaHei"/>
              </a:rPr>
              <a:t>Switchback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1554480"/>
          </a:xfrm>
          <a:prstGeom prst="rect">
            <a:avLst/>
          </a:prstGeom>
          <a:solidFill>
            <a:srgbClr val="FAF1E6"/>
          </a:solidFill>
          <a:ln w="12700">
            <a:solidFill>
              <a:srgbClr val="B07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763C"/>
                </a:solidFill>
                <a:latin typeface="Microsoft YaHei"/>
              </a:rPr>
              <a:t>制度原型：青龙桥『人字形折返』展线（1908 · 詹天佑）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733"/>
                </a:solidFill>
                <a:latin typeface="Microsoft YaHei"/>
              </a:rPr>
              <a:t>列车无法直爬 33‰ 陡坡，必须在折返点停车、换向、以退为进。运行 118 年零重大事故——在能力极限前主动停下重估，比硬闯更接近最优解。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A5F"/>
                </a:solidFill>
                <a:latin typeface="Microsoft YaHei"/>
              </a:rPr>
              <a:t>核心洞察：</a:t>
            </a:r>
          </a:p>
          <a:p>
            <a:pPr algn="l"/>
            <a:r>
              <a:rPr sz="1500" b="0">
                <a:solidFill>
                  <a:srgbClr val="1C2733"/>
                </a:solidFill>
                <a:latin typeface="Microsoft YaHei"/>
              </a:rPr>
              <a:t>多 Agent 协同系统与陡坡列车同构——任务爬坡时，Agent 的自回归式自动续行就是『硬闯陡坡』。治理的关键不是更强的模型，而是制度化的折返点：让系统『到站必停、复核、可回头』。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折返点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到站必停，任何否决即强制折返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448056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坡度分级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212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缓/中/陡，越陡复核越严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448056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K 标版本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5212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不可变内容寻址哈希链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448056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A5F"/>
                </a:solidFill>
                <a:latin typeface="Microsoft YaHei"/>
              </a:rPr>
              <a:t>道岔三态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212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正线/侧线/入段，不设自动恢复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763C"/>
                </a:solidFill>
                <a:latin typeface="Microsoft YaHei"/>
              </a:rPr>
              <a:t>三  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方案设计：折返治理协议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28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icrosoft YaHei"/>
              </a:rPr>
              <a:t>Switchback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A5F"/>
                </a:solidFill>
                <a:latin typeface="Microsoft YaHei"/>
              </a:rPr>
              <a:t>架构：治理层（G-GOVERNOR 监理）→ AgentTeams 编排层（Manager-Worker）→ 基础设施（状态/记忆/可观测/MCP）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64240" cy="822960"/>
          </a:xfrm>
          <a:prstGeom prst="rect">
            <a:avLst/>
          </a:prstGeom>
          <a:solidFill>
            <a:srgbClr val="EEF5F0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7D5A"/>
                </a:solidFill>
                <a:latin typeface="Microsoft YaHei"/>
              </a:rPr>
              <a:t>G-GOVERNOR 监理 Agent：折返点裁决 · 坡度准入 · 道岔三态 · K 标账本 · 不设自动恢复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A5F"/>
                </a:solidFill>
                <a:latin typeface="Microsoft YaHei"/>
              </a:rPr>
              <a:t>M-OPER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运营总监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74320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A5F"/>
                </a:solidFill>
                <a:latin typeface="Microsoft YaHei"/>
              </a:rPr>
              <a:t>W-RESEARCH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调研/来源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74320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A5F"/>
                </a:solidFill>
                <a:latin typeface="Microsoft YaHei"/>
              </a:rPr>
              <a:t>W-CREATE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内容/双语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74320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A5F"/>
                </a:solidFill>
                <a:latin typeface="Microsoft YaHei"/>
              </a:rPr>
              <a:t>W-VERIFY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校验/复算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274320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926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A5F"/>
                </a:solidFill>
                <a:latin typeface="Microsoft YaHei"/>
              </a:rPr>
              <a:t>W-RISK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风险/合规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7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763C"/>
                </a:solidFill>
                <a:latin typeface="Microsoft YaHei"/>
              </a:rPr>
              <a:t>协议不变量（可复算、可复核、可接手）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① 到站必停：折返点未裁决，任务不得继续执行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8289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② 任何否决即折返：一票 TURN_BACK/DEPOT ⇒ 强制折返，绝不放行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9379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③ 坡度越高越严：陡坡需三方（责任人/专业/公众）复核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④ K 标不可篡改：SHA-256 哈希链，篡改即断链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1558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⑤ 不设自动恢复：被放行又入段的任务禁止自动回正线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763C"/>
                </a:solidFill>
                <a:latin typeface="Microsoft YaHei"/>
              </a:rPr>
              <a:t>四  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闭环 8 步 + 六大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28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icrosoft YaHei"/>
              </a:rPr>
              <a:t>Switchback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①任务输入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M-OPER 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79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②任务拆解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79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坡度分级 DAG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③上下文传递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Matrix+SharedState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④工具调用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Higress+MCP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⑤结果验证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W-VERIFY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⑥证据沉淀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K 标 seal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⑦审批回滚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折返点三方复核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9880" y="118872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1325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3A5F"/>
                </a:solidFill>
                <a:latin typeface="Microsoft YaHei"/>
              </a:rPr>
              <a:t>⑧经验沉淀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1965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A"/>
                </a:solidFill>
                <a:latin typeface="Microsoft YaHei"/>
              </a:rPr>
              <a:t>lessons-learned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A5F"/>
                </a:solidFill>
                <a:latin typeface="Microsoft YaHei"/>
              </a:rPr>
              <a:t>六大可执行 Skill（switchback/skills.py，每个带机器可读 SkillSpec）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004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grade-access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337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坡度准入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32004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evidence-verify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799" y="3337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证据核验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2004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kmarker-ledger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39" y="3337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K 标账本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062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97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risk-ledger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343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风险台账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79" y="42062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97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switch-decision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4343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折返裁决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19" y="42062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42976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lessons-learned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39" y="4343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经验沉淀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EEF5F0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7D5A"/>
                </a:solidFill>
                <a:latin typeface="Microsoft YaHei"/>
              </a:rPr>
              <a:t>以 AgentTeams（Hiclaw）为设计基点：Manager 控制流 + Worker 任务流 + Matrix 房间人机可见可干预 + 凭证透传；Agent Identity 清单见 docs/identity.md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763C"/>
                </a:solidFill>
                <a:latin typeface="Microsoft YaHei"/>
              </a:rPr>
              <a:t>五  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真实案例：京张 84 分（可复现）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28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icrosoft YaHei"/>
              </a:rPr>
              <a:t>Switchback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3A5F"/>
                </a:solidFill>
                <a:latin typeface="Consolas"/>
              </a:rPr>
              <a:t>python -m switchback.cli replay jingzhang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裁决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1064240" cy="384048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1106424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A5F"/>
                </a:solidFill>
                <a:latin typeface="Microsoft YaHei"/>
              </a:rPr>
              <a:t>v5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PR#605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Microsoft YaHei"/>
              </a:rPr>
              <a:t>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7D5A"/>
                </a:solidFill>
                <a:latin typeface="Microsoft YaHei"/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1106424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0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A5F"/>
                </a:solidFill>
                <a:latin typeface="Microsoft YaHei"/>
              </a:rPr>
              <a:t>v8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40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PR#1220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402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Microsoft YaHei"/>
              </a:rPr>
              <a:t>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240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63C"/>
                </a:solidFill>
                <a:latin typeface="Microsoft YaHei"/>
              </a:rPr>
              <a:t>折返↩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1106424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974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A5F"/>
                </a:solidFill>
                <a:latin typeface="Microsoft YaHei"/>
              </a:rPr>
              <a:t>v8.1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6974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PR#1468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6974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Microsoft YaHei"/>
              </a:rPr>
              <a:t>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6974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7D5A"/>
                </a:solidFill>
                <a:latin typeface="Microsoft YaHei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08960"/>
            <a:ext cx="1106424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54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A5F"/>
                </a:solidFill>
                <a:latin typeface="Microsoft YaHei"/>
              </a:rPr>
              <a:t>v8.2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154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PR#1816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1546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Microsoft YaHei"/>
              </a:rPr>
              <a:t>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63C"/>
                </a:solidFill>
                <a:latin typeface="Microsoft YaHei"/>
              </a:rPr>
              <a:t>折返↩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66160"/>
            <a:ext cx="1106424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11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A5F"/>
                </a:solidFill>
                <a:latin typeface="Microsoft YaHei"/>
              </a:rPr>
              <a:t>v8.5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3611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PR#2205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6118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Microsoft YaHei"/>
              </a:rPr>
              <a:t>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611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63C"/>
                </a:solidFill>
                <a:latin typeface="Microsoft YaHei"/>
              </a:rPr>
              <a:t>折返↩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1106424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3A5F"/>
                </a:solidFill>
                <a:latin typeface="Microsoft YaHei"/>
              </a:rPr>
              <a:t>v8.10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2733"/>
                </a:solidFill>
                <a:latin typeface="Microsoft YaHei"/>
              </a:rPr>
              <a:t>PR#2328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Microsoft YaHei"/>
              </a:rPr>
              <a:t>76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63C"/>
                </a:solidFill>
                <a:latin typeface="Microsoft YaHei"/>
              </a:rPr>
              <a:t>折返↩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solidFill>
            <a:srgbClr val="EEF5F0"/>
          </a:solidFill>
          <a:ln w="1270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7D5A"/>
                </a:solidFill>
                <a:latin typeface="Microsoft YaHei"/>
              </a:rPr>
              <a:t>每次提交过『证据核验 → 折返点复核 → K 标放行/折返』，账本不可变、Trace 可回放。真实任务闭环 + 结果校验 + 安全熔断审计。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763C"/>
                </a:solidFill>
                <a:latin typeface="Microsoft YaHei"/>
              </a:rPr>
              <a:t>六  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可行性与开放开源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28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Microsoft YaHei"/>
              </a:rPr>
              <a:t>Switchback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工程落地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Python 3.10+ 零依赖可运行 · 38 项 pytest 全绿 · GitHub Actions CI（3.10/3.11/3.12）· CLI 一键复现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落地路线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初赛（方案设计）→ 复赛 9.3（AgentTeams 集群部署 + Demo）→ 决赛 9.22（现场 Demo + 审计链路展示）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开放/开源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Apache-2.0 全量开源 · 依赖边界清晰（运行零依赖）· 京张案例数据来自公开开源竞赛 · 权利逐资产登记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3A5F"/>
                </a:solidFill>
                <a:latin typeface="Microsoft YaHei"/>
              </a:rPr>
              <a:t>评审指标对照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733"/>
                </a:solidFill>
                <a:latin typeface="Microsoft YaHei"/>
              </a:rPr>
              <a:t>场景价值 25% ｜ 多 Agent 闭环 25% ｜ Skill 工程 25% ｜ 工程落地安全审计 20% ｜ 开源 5% —— 全部命中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123A5F"/>
          </a:solidFill>
          <a:ln w="12700">
            <a:solidFill>
              <a:srgbClr val="12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让每一次 Agent 决策，都沿轨道可查、可停、可回头。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