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2C49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B0763C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7CE7A8"/>
                </a:solidFill>
                <a:latin typeface="Microsoft YaHei"/>
              </a:rPr>
              <a:t>GOAI WORLD AI OPEN SOURCE COMPETITION 2026 · HANGZHOU · TRACK 1 · AGENT INFRA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FFFFFF"/>
                </a:solidFill>
                <a:latin typeface="Microsoft YaHei"/>
              </a:rPr>
              <a:t>折返治理 · Switchback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9C6D2"/>
                </a:solidFill>
                <a:latin typeface="Microsoft YaHei"/>
              </a:rPr>
              <a:t>Switchback Governance — the Human-in-the-Loop Governance Layer for Multi-Agent Teams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B0763C"/>
                </a:solidFill>
                <a:latin typeface="Microsoft YaHei"/>
              </a:rPr>
              <a:t>让每一次 Agent 决策，都沿轨道可查、可停、可回头。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846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icrosoft YaHei"/>
              </a:rPr>
              <a:t>赛道① 新智基座 Agent Infra ｜ 参赛 sukikeeling ｜ 仓库 github.com/sukikeeling/switchback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94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9C6D2"/>
                </a:solidFill>
                <a:latin typeface="Microsoft YaHei"/>
              </a:rPr>
              <a:t>旗舰证据：百年京张 AI 创新带开源征集 84/100 最高纪录（open-city-ai/haidian）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23A5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0763C"/>
                </a:solidFill>
                <a:latin typeface="Microsoft YaHei"/>
              </a:rPr>
              <a:t>一  </a:t>
            </a:r>
          </a:p>
          <a:p>
            <a:pPr algn="l"/>
            <a:r>
              <a:rPr sz="1800" b="1">
                <a:solidFill>
                  <a:srgbClr val="FFFFFF"/>
                </a:solidFill>
                <a:latin typeface="Microsoft YaHei"/>
              </a:rPr>
              <a:t>问题与场景：Agent 从 Demo 到 Production 的四道坎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2286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Microsoft YaHei"/>
              </a:rPr>
              <a:t>Switchback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3A5F"/>
                </a:solidFill>
                <a:latin typeface="Microsoft YaHei"/>
              </a:rPr>
              <a:t>结果不可信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37160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733"/>
                </a:solidFill>
                <a:latin typeface="Microsoft YaHei"/>
              </a:rPr>
              <a:t>数值三处对不齐、引用错位、模型幻觉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137160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F7D5A"/>
                </a:solidFill>
                <a:latin typeface="Microsoft YaHei"/>
              </a:rPr>
              <a:t>证据核验 Skill：三处对齐 + 双向引用 + 内容哈希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86000"/>
            <a:ext cx="11064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4688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3A5F"/>
                </a:solidFill>
                <a:latin typeface="Microsoft YaHei"/>
              </a:rPr>
              <a:t>过程不可停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46888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733"/>
                </a:solidFill>
                <a:latin typeface="Microsoft YaHei"/>
              </a:rPr>
              <a:t>编排一旦开始就自动往下走，错误放大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246888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F7D5A"/>
                </a:solidFill>
                <a:latin typeface="Microsoft YaHei"/>
              </a:rPr>
              <a:t>折返点：到站必停，复核后才继续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383280"/>
            <a:ext cx="11064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5661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3A5F"/>
                </a:solidFill>
                <a:latin typeface="Microsoft YaHei"/>
              </a:rPr>
              <a:t>出事不可回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356616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733"/>
                </a:solidFill>
                <a:latin typeface="Microsoft YaHei"/>
              </a:rPr>
              <a:t>没有审批/回滚/隔离语义，只能硬杀进程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356616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F7D5A"/>
                </a:solidFill>
                <a:latin typeface="Microsoft YaHei"/>
              </a:rPr>
              <a:t>道岔三态：正线/侧线/入段，不设自动恢复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480560"/>
            <a:ext cx="11064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6634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3A5F"/>
                </a:solidFill>
                <a:latin typeface="Microsoft YaHei"/>
              </a:rPr>
              <a:t>账目不可审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466344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733"/>
                </a:solidFill>
                <a:latin typeface="Microsoft YaHei"/>
              </a:rPr>
              <a:t>谁做了什么、基于哪个数据版本，无账本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466344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F7D5A"/>
                </a:solidFill>
                <a:latin typeface="Microsoft YaHei"/>
              </a:rPr>
              <a:t>K 标账本：内容寻址哈希链，逐条可复核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760720"/>
            <a:ext cx="11064240" cy="822960"/>
          </a:xfrm>
          <a:prstGeom prst="rect">
            <a:avLst/>
          </a:prstGeom>
          <a:solidFill>
            <a:srgbClr val="EEF5F0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8978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7D5A"/>
                </a:solidFill>
                <a:latin typeface="Microsoft YaHei"/>
              </a:rPr>
              <a:t>真实场景：京张开源征集 16 个 PR 亲历全部事故 → 84/100 最高纪录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23A5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0763C"/>
                </a:solidFill>
                <a:latin typeface="Microsoft YaHei"/>
              </a:rPr>
              <a:t>二  </a:t>
            </a:r>
          </a:p>
          <a:p>
            <a:pPr algn="l"/>
            <a:r>
              <a:rPr sz="1800" b="1">
                <a:solidFill>
                  <a:srgbClr val="FFFFFF"/>
                </a:solidFill>
                <a:latin typeface="Microsoft YaHei"/>
              </a:rPr>
              <a:t>核心洞察：铁路的『人字坡』智慧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2286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Microsoft YaHei"/>
              </a:rPr>
              <a:t>Switchback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1554480"/>
          </a:xfrm>
          <a:prstGeom prst="rect">
            <a:avLst/>
          </a:prstGeom>
          <a:solidFill>
            <a:srgbClr val="FAF1E6"/>
          </a:solidFill>
          <a:ln w="12700">
            <a:solidFill>
              <a:srgbClr val="B07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B0763C"/>
                </a:solidFill>
                <a:latin typeface="Microsoft YaHei"/>
              </a:rPr>
              <a:t>制度原型：青龙桥『人字形折返』展线（1908 · 詹天佑）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733"/>
                </a:solidFill>
                <a:latin typeface="Microsoft YaHei"/>
              </a:rPr>
              <a:t>列车无法直爬 33‰ 陡坡，必须在折返点停车、换向、以退为进。运行 118 年零重大事故——在能力极限前主动停下重估，比硬闯更接近最优解。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1752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23A5F"/>
                </a:solidFill>
                <a:latin typeface="Microsoft YaHei"/>
              </a:rPr>
              <a:t>核心洞察：</a:t>
            </a:r>
          </a:p>
          <a:p>
            <a:pPr algn="l"/>
            <a:r>
              <a:rPr sz="1500" b="0">
                <a:solidFill>
                  <a:srgbClr val="1C2733"/>
                </a:solidFill>
                <a:latin typeface="Microsoft YaHei"/>
              </a:rPr>
              <a:t>多 Agent 协同系统与陡坡列车同构——任务爬坡时，Agent 的自回归式自动续行就是『硬闯陡坡』。治理的关键不是更强的模型，而是制度化的折返点：让系统『到站必停、复核、可回头』。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480560"/>
            <a:ext cx="2697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6634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3A5F"/>
                </a:solidFill>
                <a:latin typeface="Microsoft YaHei"/>
              </a:rPr>
              <a:t>折返点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2120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到站必停，任何否决即强制折返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4480560"/>
            <a:ext cx="2697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46634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3A5F"/>
                </a:solidFill>
                <a:latin typeface="Microsoft YaHei"/>
              </a:rPr>
              <a:t>坡度分级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52120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缓/中/陡，越陡复核越严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79" y="4480560"/>
            <a:ext cx="2697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59" y="46634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3A5F"/>
                </a:solidFill>
                <a:latin typeface="Microsoft YaHei"/>
              </a:rPr>
              <a:t>K 标版本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52120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不可变内容寻址哈希链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15400" y="4480560"/>
            <a:ext cx="2697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98280" y="46634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3A5F"/>
                </a:solidFill>
                <a:latin typeface="Microsoft YaHei"/>
              </a:rPr>
              <a:t>道岔三态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52120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正线/侧线/入段，不设自动恢复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23A5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0763C"/>
                </a:solidFill>
                <a:latin typeface="Microsoft YaHei"/>
              </a:rPr>
              <a:t>三  </a:t>
            </a:r>
          </a:p>
          <a:p>
            <a:pPr algn="l"/>
            <a:r>
              <a:rPr sz="1800" b="1">
                <a:solidFill>
                  <a:srgbClr val="FFFFFF"/>
                </a:solidFill>
                <a:latin typeface="Microsoft YaHei"/>
              </a:rPr>
              <a:t>方案设计：折返治理协议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2286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Microsoft YaHei"/>
              </a:rPr>
              <a:t>Switchback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3A5F"/>
                </a:solidFill>
                <a:latin typeface="Microsoft YaHei"/>
              </a:rPr>
              <a:t>架构：治理层（G-GOVERNOR 监理）→ AgentTeams 编排层（Manager-Worker）→ 基础设施（状态/记忆/可观测/MCP）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11064240" cy="822960"/>
          </a:xfrm>
          <a:prstGeom prst="rect">
            <a:avLst/>
          </a:prstGeom>
          <a:solidFill>
            <a:srgbClr val="EEF5F0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74519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7D5A"/>
                </a:solidFill>
                <a:latin typeface="Microsoft YaHei"/>
              </a:rPr>
              <a:t>G-GOVERNOR 监理 Agent：折返点裁决 · 坡度准入 · 道岔三态 · K 标账本 · 不设自动恢复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21945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9260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3A5F"/>
                </a:solidFill>
                <a:latin typeface="Microsoft YaHei"/>
              </a:rPr>
              <a:t>M-OPER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3832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运营总监 Manager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2743200"/>
            <a:ext cx="21945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0" y="29260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3A5F"/>
                </a:solidFill>
                <a:latin typeface="Microsoft YaHei"/>
              </a:rPr>
              <a:t>W-RESEARCH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3832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调研/来源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0" y="2743200"/>
            <a:ext cx="21945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66360" y="29260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3A5F"/>
                </a:solidFill>
                <a:latin typeface="Microsoft YaHei"/>
              </a:rPr>
              <a:t>W-CREATE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6360" y="33832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内容/双语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69480" y="2743200"/>
            <a:ext cx="21945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0" y="29260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3A5F"/>
                </a:solidFill>
                <a:latin typeface="Microsoft YaHei"/>
              </a:rPr>
              <a:t>W-VERIFY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33832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校验/复算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09760" y="2743200"/>
            <a:ext cx="21945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46920" y="29260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3A5F"/>
                </a:solidFill>
                <a:latin typeface="Microsoft YaHei"/>
              </a:rPr>
              <a:t>W-RISK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46920" y="33832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风险/合规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023360"/>
            <a:ext cx="1106424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7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1605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B0763C"/>
                </a:solidFill>
                <a:latin typeface="Microsoft YaHei"/>
              </a:rPr>
              <a:t>协议不变量（可复算、可复核、可接手）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572000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733"/>
                </a:solidFill>
                <a:latin typeface="Microsoft YaHei"/>
              </a:rPr>
              <a:t>① 到站必停：折返点未裁决，任务不得继续执行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882896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733"/>
                </a:solidFill>
                <a:latin typeface="Microsoft YaHei"/>
              </a:rPr>
              <a:t>② 任何否决即折返：一票 TURN_BACK/DEPOT ⇒ 强制折返，绝不放行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193792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733"/>
                </a:solidFill>
                <a:latin typeface="Microsoft YaHei"/>
              </a:rPr>
              <a:t>③ 坡度越高越严：陡坡需三方（责任人/专业/公众）复核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504688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733"/>
                </a:solidFill>
                <a:latin typeface="Microsoft YaHei"/>
              </a:rPr>
              <a:t>④ K 标不可篡改：SHA-256 哈希链，篡改即断链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815584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733"/>
                </a:solidFill>
                <a:latin typeface="Microsoft YaHei"/>
              </a:rPr>
              <a:t>⑤ 不设自动恢复：被放行又入段的任务禁止自动回正线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23A5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0763C"/>
                </a:solidFill>
                <a:latin typeface="Microsoft YaHei"/>
              </a:rPr>
              <a:t>四  </a:t>
            </a:r>
          </a:p>
          <a:p>
            <a:pPr algn="l"/>
            <a:r>
              <a:rPr sz="1800" b="1">
                <a:solidFill>
                  <a:srgbClr val="FFFFFF"/>
                </a:solidFill>
                <a:latin typeface="Microsoft YaHei"/>
              </a:rPr>
              <a:t>闭环 8 步 + 六大 Skill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2286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Microsoft YaHei"/>
              </a:rPr>
              <a:t>Switchback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3716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2588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23A5F"/>
                </a:solidFill>
                <a:latin typeface="Microsoft YaHei"/>
              </a:rPr>
              <a:t>①任务输入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659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A6B7A"/>
                </a:solidFill>
                <a:latin typeface="Microsoft YaHei"/>
              </a:rPr>
              <a:t>M-OPER 接单</a:t>
            </a:r>
          </a:p>
        </p:txBody>
      </p:sp>
      <p:sp>
        <p:nvSpPr>
          <p:cNvPr id="8" name="Rectangle 7"/>
          <p:cNvSpPr/>
          <p:nvPr/>
        </p:nvSpPr>
        <p:spPr>
          <a:xfrm>
            <a:off x="1965960" y="1188720"/>
            <a:ext cx="13716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79" y="132588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23A5F"/>
                </a:solidFill>
                <a:latin typeface="Microsoft YaHei"/>
              </a:rPr>
              <a:t>②任务拆解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79" y="19659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A6B7A"/>
                </a:solidFill>
                <a:latin typeface="Microsoft YaHei"/>
              </a:rPr>
              <a:t>坡度分级 DAG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1188720"/>
            <a:ext cx="13716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32588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23A5F"/>
                </a:solidFill>
                <a:latin typeface="Microsoft YaHei"/>
              </a:rPr>
              <a:t>③上下文传递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19659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A6B7A"/>
                </a:solidFill>
                <a:latin typeface="Microsoft YaHei"/>
              </a:rPr>
              <a:t>Matrix+SharedState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00600" y="1188720"/>
            <a:ext cx="13716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0" y="132588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23A5F"/>
                </a:solidFill>
                <a:latin typeface="Microsoft YaHei"/>
              </a:rPr>
              <a:t>④工具调用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19659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A6B7A"/>
                </a:solidFill>
                <a:latin typeface="Microsoft YaHei"/>
              </a:rPr>
              <a:t>Higress+MCP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188720"/>
            <a:ext cx="13716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32588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23A5F"/>
                </a:solidFill>
                <a:latin typeface="Microsoft YaHei"/>
              </a:rPr>
              <a:t>⑤结果验证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9659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A6B7A"/>
                </a:solidFill>
                <a:latin typeface="Microsoft YaHei"/>
              </a:rPr>
              <a:t>W-VERIFY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35240" y="1188720"/>
            <a:ext cx="13716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0" y="132588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23A5F"/>
                </a:solidFill>
                <a:latin typeface="Microsoft YaHei"/>
              </a:rPr>
              <a:t>⑥证据沉淀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19659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A6B7A"/>
                </a:solidFill>
                <a:latin typeface="Microsoft YaHei"/>
              </a:rPr>
              <a:t>K 标 seal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52560" y="1188720"/>
            <a:ext cx="13716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98280" y="132588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23A5F"/>
                </a:solidFill>
                <a:latin typeface="Microsoft YaHei"/>
              </a:rPr>
              <a:t>⑦审批回滚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98280" y="19659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A6B7A"/>
                </a:solidFill>
                <a:latin typeface="Microsoft YaHei"/>
              </a:rPr>
              <a:t>折返点三方复核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469880" y="1188720"/>
            <a:ext cx="13716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0" y="132588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23A5F"/>
                </a:solidFill>
                <a:latin typeface="Microsoft YaHei"/>
              </a:rPr>
              <a:t>⑧经验沉淀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19659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A6B7A"/>
                </a:solidFill>
                <a:latin typeface="Microsoft YaHei"/>
              </a:rPr>
              <a:t>lessons-learned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2743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3A5F"/>
                </a:solidFill>
                <a:latin typeface="Microsoft YaHei"/>
              </a:rPr>
              <a:t>六大可执行 Skill（switchback/skills.py，每个带机器可读 SkillSpec）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200400"/>
            <a:ext cx="3657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32918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23A5F"/>
                </a:solidFill>
                <a:latin typeface="Microsoft YaHei"/>
              </a:rPr>
              <a:t>grade-access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51760" y="333756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坡度准入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97679" y="3200400"/>
            <a:ext cx="3657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4840" y="32918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23A5F"/>
                </a:solidFill>
                <a:latin typeface="Microsoft YaHei"/>
              </a:rPr>
              <a:t>evidence-verify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799" y="333756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证据核验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46719" y="3200400"/>
            <a:ext cx="3657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83879" y="32918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23A5F"/>
                </a:solidFill>
                <a:latin typeface="Microsoft YaHei"/>
              </a:rPr>
              <a:t>kmarker-ledger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39" y="333756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K 标账本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4206240"/>
            <a:ext cx="3657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4297679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23A5F"/>
                </a:solidFill>
                <a:latin typeface="Microsoft YaHei"/>
              </a:rPr>
              <a:t>risk-ledger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51760" y="434340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风险台账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97679" y="4206240"/>
            <a:ext cx="3657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34840" y="4297679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23A5F"/>
                </a:solidFill>
                <a:latin typeface="Microsoft YaHei"/>
              </a:rPr>
              <a:t>switch-decision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799" y="434340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折返裁决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046719" y="4206240"/>
            <a:ext cx="3657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83879" y="4297679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23A5F"/>
                </a:solidFill>
                <a:latin typeface="Microsoft YaHei"/>
              </a:rPr>
              <a:t>lessons-learned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49839" y="434340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经验沉淀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5394960"/>
            <a:ext cx="11064240" cy="914400"/>
          </a:xfrm>
          <a:prstGeom prst="rect">
            <a:avLst/>
          </a:prstGeom>
          <a:solidFill>
            <a:srgbClr val="EEF5F0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2960" y="55321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7D5A"/>
                </a:solidFill>
                <a:latin typeface="Microsoft YaHei"/>
              </a:rPr>
              <a:t>以 AgentTeams（Hiclaw）为设计基点：Manager 控制流 + Worker 任务流 + Matrix 房间人机可见可干预 + 凭证透传；Agent Identity 清单见 docs/identity.md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23A5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0763C"/>
                </a:solidFill>
                <a:latin typeface="Microsoft YaHei"/>
              </a:rPr>
              <a:t>五  </a:t>
            </a:r>
          </a:p>
          <a:p>
            <a:pPr algn="l"/>
            <a:r>
              <a:rPr sz="1800" b="1">
                <a:solidFill>
                  <a:srgbClr val="FFFFFF"/>
                </a:solidFill>
                <a:latin typeface="Microsoft YaHei"/>
              </a:rPr>
              <a:t>真实案例：京张 84 分（可复现）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2286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Microsoft YaHei"/>
              </a:rPr>
              <a:t>Switchback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3A5F"/>
                </a:solidFill>
                <a:latin typeface="Consolas"/>
              </a:rPr>
              <a:t>python -m switchback.cli replay jingzhang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版本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12801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PR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2801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2801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裁决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280160"/>
            <a:ext cx="11064240" cy="384048"/>
          </a:xfrm>
          <a:prstGeom prst="rect">
            <a:avLst/>
          </a:prstGeom>
          <a:solidFill>
            <a:srgbClr val="123A5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737360"/>
            <a:ext cx="11064240" cy="384048"/>
          </a:xfrm>
          <a:prstGeom prst="rect">
            <a:avLst/>
          </a:prstGeom>
          <a:solidFill>
            <a:srgbClr val="F6F8FA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7830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23A5F"/>
                </a:solidFill>
                <a:latin typeface="Microsoft YaHei"/>
              </a:rPr>
              <a:t>v5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17830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PR#605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1783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2733"/>
                </a:solidFill>
                <a:latin typeface="Microsoft YaHei"/>
              </a:rPr>
              <a:t>67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1783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F7D5A"/>
                </a:solidFill>
                <a:latin typeface="Microsoft YaHei"/>
              </a:rPr>
              <a:t>PASS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194560"/>
            <a:ext cx="11064240" cy="384048"/>
          </a:xfrm>
          <a:prstGeom prst="rect">
            <a:avLst/>
          </a:prstGeom>
          <a:solidFill>
            <a:srgbClr val="F6F8FA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2402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23A5F"/>
                </a:solidFill>
                <a:latin typeface="Microsoft YaHei"/>
              </a:rPr>
              <a:t>v8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22402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PR#1220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24027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2733"/>
                </a:solidFill>
                <a:latin typeface="Microsoft YaHei"/>
              </a:rPr>
              <a:t>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224027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0763C"/>
                </a:solidFill>
                <a:latin typeface="Microsoft YaHei"/>
              </a:rPr>
              <a:t>折返↩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651760"/>
            <a:ext cx="11064240" cy="384048"/>
          </a:xfrm>
          <a:prstGeom prst="rect">
            <a:avLst/>
          </a:prstGeom>
          <a:solidFill>
            <a:srgbClr val="F6F8FA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6974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23A5F"/>
                </a:solidFill>
                <a:latin typeface="Microsoft YaHei"/>
              </a:rPr>
              <a:t>v8.1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26974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PR#1468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69747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2733"/>
                </a:solidFill>
                <a:latin typeface="Microsoft YaHei"/>
              </a:rPr>
              <a:t>84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269747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F7D5A"/>
                </a:solidFill>
                <a:latin typeface="Microsoft YaHei"/>
              </a:rPr>
              <a:t>PASS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108960"/>
            <a:ext cx="11064240" cy="384048"/>
          </a:xfrm>
          <a:prstGeom prst="rect">
            <a:avLst/>
          </a:prstGeom>
          <a:solidFill>
            <a:srgbClr val="F6F8FA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1546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23A5F"/>
                </a:solidFill>
                <a:latin typeface="Microsoft YaHei"/>
              </a:rPr>
              <a:t>v8.2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31546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PR#1816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15467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2733"/>
                </a:solidFill>
                <a:latin typeface="Microsoft YaHei"/>
              </a:rPr>
              <a:t>70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15467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0763C"/>
                </a:solidFill>
                <a:latin typeface="Microsoft YaHei"/>
              </a:rPr>
              <a:t>折返↩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3566160"/>
            <a:ext cx="11064240" cy="384048"/>
          </a:xfrm>
          <a:prstGeom prst="rect">
            <a:avLst/>
          </a:prstGeom>
          <a:solidFill>
            <a:srgbClr val="F6F8FA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6118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23A5F"/>
                </a:solidFill>
                <a:latin typeface="Microsoft YaHei"/>
              </a:rPr>
              <a:t>v8.5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36118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PR#2205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0" y="361187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2733"/>
                </a:solidFill>
                <a:latin typeface="Microsoft YaHei"/>
              </a:rPr>
              <a:t>77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0" y="361187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0763C"/>
                </a:solidFill>
                <a:latin typeface="Microsoft YaHei"/>
              </a:rPr>
              <a:t>折返↩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4023360"/>
            <a:ext cx="11064240" cy="384048"/>
          </a:xfrm>
          <a:prstGeom prst="rect">
            <a:avLst/>
          </a:prstGeom>
          <a:solidFill>
            <a:srgbClr val="F6F8FA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0690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23A5F"/>
                </a:solidFill>
                <a:latin typeface="Microsoft YaHei"/>
              </a:rPr>
              <a:t>v8.10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3120" y="40690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PR#2328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0" y="4069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2733"/>
                </a:solidFill>
                <a:latin typeface="Microsoft YaHei"/>
              </a:rPr>
              <a:t>76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54880" y="4069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0763C"/>
                </a:solidFill>
                <a:latin typeface="Microsoft YaHei"/>
              </a:rPr>
              <a:t>折返↩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663440"/>
            <a:ext cx="11064240" cy="914400"/>
          </a:xfrm>
          <a:prstGeom prst="rect">
            <a:avLst/>
          </a:prstGeom>
          <a:solidFill>
            <a:srgbClr val="EEF5F0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4800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7D5A"/>
                </a:solidFill>
                <a:latin typeface="Microsoft YaHei"/>
              </a:rPr>
              <a:t>每次提交过『证据核验 → 折返点复核 → K 标放行/折返』，账本不可变、Trace 可回放。真实任务闭环 + 结果校验 + 安全熔断审计。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23A5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0763C"/>
                </a:solidFill>
                <a:latin typeface="Microsoft YaHei"/>
              </a:rPr>
              <a:t>六  </a:t>
            </a:r>
          </a:p>
          <a:p>
            <a:pPr algn="l"/>
            <a:r>
              <a:rPr sz="1800" b="1">
                <a:solidFill>
                  <a:srgbClr val="FFFFFF"/>
                </a:solidFill>
                <a:latin typeface="Microsoft YaHei"/>
              </a:rPr>
              <a:t>可行性与开放开源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2286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Microsoft YaHei"/>
              </a:rPr>
              <a:t>Switchback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23A5F"/>
                </a:solidFill>
                <a:latin typeface="Microsoft YaHei"/>
              </a:rPr>
              <a:t>工程落地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733"/>
                </a:solidFill>
                <a:latin typeface="Microsoft YaHei"/>
              </a:rPr>
              <a:t>Python 3.10+ 零依赖可运行 · 23 项 pytest 全绿 · GitHub Actions CI（3.10/3.11/3.12）· CLI 一键复现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14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23A5F"/>
                </a:solidFill>
                <a:latin typeface="Microsoft YaHei"/>
              </a:rPr>
              <a:t>落地路线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803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733"/>
                </a:solidFill>
                <a:latin typeface="Microsoft YaHei"/>
              </a:rPr>
              <a:t>初赛（方案设计）→ 复赛 9.3（AgentTeams 集群部署 + Demo）→ 决赛 9.22（现场 Demo + 审计链路展示）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566160"/>
            <a:ext cx="110642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7033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23A5F"/>
                </a:solidFill>
                <a:latin typeface="Microsoft YaHei"/>
              </a:rPr>
              <a:t>开放/开源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690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733"/>
                </a:solidFill>
                <a:latin typeface="Microsoft YaHei"/>
              </a:rPr>
              <a:t>Apache-2.0 全量开源 · 依赖边界清晰（运行零依赖）· 京张案例数据来自公开开源竞赛 · 权利逐资产登记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846320"/>
            <a:ext cx="110642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983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23A5F"/>
                </a:solidFill>
                <a:latin typeface="Microsoft YaHei"/>
              </a:rPr>
              <a:t>评审指标对照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3492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733"/>
                </a:solidFill>
                <a:latin typeface="Microsoft YaHei"/>
              </a:rPr>
              <a:t>场景价值 25% ｜ 多 Agent 闭环 25% ｜ Skill 工程 25% ｜ 工程落地安全审计 20% ｜ 开源 5% —— 全部命中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035040"/>
            <a:ext cx="11064240" cy="640080"/>
          </a:xfrm>
          <a:prstGeom prst="rect">
            <a:avLst/>
          </a:prstGeom>
          <a:solidFill>
            <a:srgbClr val="123A5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19963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Microsoft YaHei"/>
              </a:rPr>
              <a:t>让每一次 Agent 决策，都沿轨道可查、可停、可回头。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